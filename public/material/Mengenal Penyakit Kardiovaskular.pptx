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Poppins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  <p:embeddedFont>
      <p:font typeface="Poppins ExtraBold"/>
      <p:bold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219A2FD-0503-4DF9-B148-4863933273AF}">
  <a:tblStyle styleId="{0219A2FD-0503-4DF9-B148-4863933273A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italic.fntdata"/><Relationship Id="rId22" Type="http://schemas.openxmlformats.org/officeDocument/2006/relationships/font" Target="fonts/Lato-regular.fntdata"/><Relationship Id="rId21" Type="http://schemas.openxmlformats.org/officeDocument/2006/relationships/font" Target="fonts/Poppins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ExtraBold-bold.fntdata"/><Relationship Id="rId25" Type="http://schemas.openxmlformats.org/officeDocument/2006/relationships/font" Target="fonts/Lato-boldItalic.fntdata"/><Relationship Id="rId27" Type="http://schemas.openxmlformats.org/officeDocument/2006/relationships/font" Target="fonts/PoppinsExtraBold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oppins-bold.fntdata"/><Relationship Id="rId18" Type="http://schemas.openxmlformats.org/officeDocument/2006/relationships/font" Target="fonts/Poppi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5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11" Type="http://schemas.openxmlformats.org/officeDocument/2006/relationships/image" Target="../media/image23.png"/><Relationship Id="rId10" Type="http://schemas.openxmlformats.org/officeDocument/2006/relationships/image" Target="../media/image19.png"/><Relationship Id="rId12" Type="http://schemas.openxmlformats.org/officeDocument/2006/relationships/image" Target="../media/image20.png"/><Relationship Id="rId9" Type="http://schemas.openxmlformats.org/officeDocument/2006/relationships/image" Target="../media/image21.png"/><Relationship Id="rId5" Type="http://schemas.openxmlformats.org/officeDocument/2006/relationships/image" Target="../media/image7.png"/><Relationship Id="rId6" Type="http://schemas.openxmlformats.org/officeDocument/2006/relationships/image" Target="../media/image16.png"/><Relationship Id="rId7" Type="http://schemas.openxmlformats.org/officeDocument/2006/relationships/image" Target="../media/image12.png"/><Relationship Id="rId8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26.png"/><Relationship Id="rId9" Type="http://schemas.openxmlformats.org/officeDocument/2006/relationships/image" Target="../media/image17.png"/><Relationship Id="rId5" Type="http://schemas.openxmlformats.org/officeDocument/2006/relationships/image" Target="../media/image36.png"/><Relationship Id="rId6" Type="http://schemas.openxmlformats.org/officeDocument/2006/relationships/image" Target="../media/image18.png"/><Relationship Id="rId7" Type="http://schemas.openxmlformats.org/officeDocument/2006/relationships/image" Target="../media/image15.png"/><Relationship Id="rId8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9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32.png"/><Relationship Id="rId7" Type="http://schemas.openxmlformats.org/officeDocument/2006/relationships/image" Target="../media/image27.png"/><Relationship Id="rId8" Type="http://schemas.openxmlformats.org/officeDocument/2006/relationships/image" Target="../media/image3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29.png"/><Relationship Id="rId5" Type="http://schemas.openxmlformats.org/officeDocument/2006/relationships/image" Target="../media/image37.png"/><Relationship Id="rId6" Type="http://schemas.openxmlformats.org/officeDocument/2006/relationships/image" Target="../media/image33.png"/><Relationship Id="rId7" Type="http://schemas.openxmlformats.org/officeDocument/2006/relationships/image" Target="../media/image3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35.png"/><Relationship Id="rId5" Type="http://schemas.openxmlformats.org/officeDocument/2006/relationships/image" Target="../media/image38.png"/><Relationship Id="rId6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535555" y="1998464"/>
            <a:ext cx="7120890" cy="150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E11D48"/>
                </a:solidFill>
                <a:latin typeface="Poppins"/>
                <a:ea typeface="Poppins"/>
                <a:cs typeface="Poppins"/>
                <a:sym typeface="Poppins"/>
              </a:rPr>
              <a:t>Mengenal Penyakit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E11D48"/>
                </a:solidFill>
                <a:latin typeface="Poppins"/>
                <a:ea typeface="Poppins"/>
                <a:cs typeface="Poppins"/>
                <a:sym typeface="Poppins"/>
              </a:rPr>
              <a:t> Kardiovaskular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705100" y="4023488"/>
            <a:ext cx="678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"Kenali Penyakitnya, Lindungi Jantungmu"</a:t>
            </a:r>
            <a:endParaRPr/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0" y="979289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angan putih background nyaa, samain sama warna background ppt inii" id="88" name="Google Shape;88;p13"/>
          <p:cNvPicPr preferRelativeResize="0"/>
          <p:nvPr/>
        </p:nvPicPr>
        <p:blipFill rotWithShape="1">
          <a:blip r:embed="rId5">
            <a:alphaModFix/>
          </a:blip>
          <a:srcRect b="5570" l="16313" r="16828" t="4599"/>
          <a:stretch/>
        </p:blipFill>
        <p:spPr>
          <a:xfrm>
            <a:off x="5534625" y="4664475"/>
            <a:ext cx="1122747" cy="15085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/>
          <p:nvPr/>
        </p:nvSpPr>
        <p:spPr>
          <a:xfrm rot="-5400000">
            <a:off x="7798175" y="1684951"/>
            <a:ext cx="7750200" cy="34881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76400" y="571500"/>
            <a:ext cx="8839200" cy="21145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1676400" y="971550"/>
            <a:ext cx="8839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11D48"/>
                </a:solidFill>
                <a:latin typeface="Lato"/>
                <a:ea typeface="Lato"/>
                <a:cs typeface="Lato"/>
                <a:sym typeface="Lato"/>
              </a:rPr>
              <a:t>SECTION 01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455419" y="1428750"/>
            <a:ext cx="928116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Tujuan Pembelajaran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2657475" y="3648075"/>
            <a:ext cx="73056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Menjelaskan pengertian penyakit kardiovaskular.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2657475" y="4200525"/>
            <a:ext cx="73056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Mengenal berbagai jenis penyakit kardiovaskular.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2657475" y="4752975"/>
            <a:ext cx="73056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Memahami penyebab utama terjadinya gangguan.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2657475" y="5305425"/>
            <a:ext cx="73056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Mengetahui dampak nyata terhadap kesehatan tubuh.</a:t>
            </a:r>
            <a:endParaRPr/>
          </a:p>
        </p:txBody>
      </p:sp>
      <p:pic>
        <p:nvPicPr>
          <p:cNvPr descr="image.png" id="102" name="Google Shape;10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28850" y="36861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28850" y="42386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28850" y="47910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28850" y="5343525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/>
          <p:nvPr/>
        </p:nvSpPr>
        <p:spPr>
          <a:xfrm rot="-5400000">
            <a:off x="7955800" y="3447225"/>
            <a:ext cx="7750200" cy="2310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 rot="-5400000">
            <a:off x="7611520" y="3427697"/>
            <a:ext cx="7750200" cy="2310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500562"/>
            <a:ext cx="5238750" cy="1009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571500" y="2328862"/>
            <a:ext cx="52387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Kelompok penyakit yang menyerang </a:t>
            </a:r>
            <a:r>
              <a:rPr b="1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jantung dan pembuluh darah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, sehingga mengganggu sirkulasi darah vital.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571500" y="3414712"/>
            <a:ext cx="52387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Gangguan ini menyebabkan organ tubuh tidak memperoleh pasokan oksigen dan nutrisi secara optimal, yang dapat berakibat fatal jika tidak ditangani.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09625" y="4691062"/>
            <a:ext cx="48101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"Seringkali berkembang perlahan tanpa gejala (Silent Killer)."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Apa itu Penyakit Kardiovaskular?</a:t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 rot="-5400000">
            <a:off x="6408500" y="1899825"/>
            <a:ext cx="7750200" cy="33258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15" title="476c1fbff8f60e636e25d9330726fdbb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26975" y="1931350"/>
            <a:ext cx="3909674" cy="3909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6381750" y="2428875"/>
            <a:ext cx="55006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11D48"/>
                </a:solidFill>
                <a:latin typeface="Poppins"/>
                <a:ea typeface="Poppins"/>
                <a:cs typeface="Poppins"/>
                <a:sym typeface="Poppins"/>
              </a:rPr>
              <a:t>Penyebab Kematian Utama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6381750" y="2971800"/>
            <a:ext cx="5238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Menurut WHO, penyakit kardiovaskular menyumbang 1 dari 3 kematian di dunia setiap tahunnya.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7191375" y="3752850"/>
            <a:ext cx="44291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Risiko komplikasi stroke &amp; gagal jantung.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7191375" y="4305300"/>
            <a:ext cx="44291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Menurunkan kualitas hidup secara drastis.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7191375" y="4857750"/>
            <a:ext cx="44291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Memerlukan pengobatan jangka panjang.</a:t>
            </a:r>
            <a:endParaRPr/>
          </a:p>
        </p:txBody>
      </p:sp>
      <p:pic>
        <p:nvPicPr>
          <p:cNvPr descr="image.png" id="131" name="Google Shape;13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2750" y="37909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62750" y="4343400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2750" y="4895850"/>
            <a:ext cx="2571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Mengapa Perlu Diwaspadai?</a:t>
            </a:r>
            <a:endParaRPr/>
          </a:p>
        </p:txBody>
      </p:sp>
      <p:sp>
        <p:nvSpPr>
          <p:cNvPr id="135" name="Google Shape;135;p16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-2159250" y="1663271"/>
            <a:ext cx="7750200" cy="36426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571500" y="2971800"/>
            <a:ext cx="5238900" cy="17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0" u="none" cap="none" strike="noStrike">
                <a:solidFill>
                  <a:srgbClr val="1C172C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17.9J</a:t>
            </a:r>
            <a:endParaRPr>
              <a:solidFill>
                <a:srgbClr val="1C172C"/>
              </a:solidFill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571500" y="4495800"/>
            <a:ext cx="5238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Kematian Per Tahun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00200"/>
            <a:ext cx="3524250" cy="2200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1600200"/>
            <a:ext cx="3524250" cy="2200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0" y="1600200"/>
            <a:ext cx="3524250" cy="2200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038600"/>
            <a:ext cx="3524250" cy="2200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4038600"/>
            <a:ext cx="3524250" cy="2200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0" y="4038600"/>
            <a:ext cx="3524250" cy="220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857250" y="2571750"/>
            <a:ext cx="310038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Jantung Koroner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857250" y="3000375"/>
            <a:ext cx="2952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Penyempitan pembuluh darah yang menyuplai otot jantung.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4619625" y="2571750"/>
            <a:ext cx="310038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Hipertensi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4619625" y="3000375"/>
            <a:ext cx="2952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Tekanan darah tinggi kronis yang membebani kerja jantung.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8382000" y="2571750"/>
            <a:ext cx="310038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Stroke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8382000" y="3000375"/>
            <a:ext cx="2952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Gangguan aliran darah ke otak yang merusak sel saraf.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857250" y="5010150"/>
            <a:ext cx="310038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Gagal Jantung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857250" y="5438775"/>
            <a:ext cx="2952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Kondisi jantung tidak mampu memompa darah secara efektif.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4619625" y="5010150"/>
            <a:ext cx="310038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Aritmia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4619625" y="5438775"/>
            <a:ext cx="2952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Gangguan pada irama detak jantung (tidak beraturan).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8382000" y="5010150"/>
            <a:ext cx="310038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Lainnya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8382000" y="5438775"/>
            <a:ext cx="2952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Termasuk penyakit katup jantung dan jantung bawaan.</a:t>
            </a:r>
            <a:endParaRPr/>
          </a:p>
        </p:txBody>
      </p:sp>
      <p:pic>
        <p:nvPicPr>
          <p:cNvPr descr="image.png" id="162" name="Google Shape;162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7250" y="1962150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19625" y="19621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82000" y="19621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7250" y="44005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619625" y="4400550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382000" y="4400550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7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Jenis Penyakit Kardiovaskular</a:t>
            </a:r>
            <a:endParaRPr/>
          </a:p>
        </p:txBody>
      </p:sp>
      <p:sp>
        <p:nvSpPr>
          <p:cNvPr id="169" name="Google Shape;169;p17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Faktor Penyebab Utama</a:t>
            </a:r>
            <a:endParaRPr/>
          </a:p>
        </p:txBody>
      </p:sp>
      <p:sp>
        <p:nvSpPr>
          <p:cNvPr id="176" name="Google Shape;176;p18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/>
          <p:nvPr/>
        </p:nvSpPr>
        <p:spPr>
          <a:xfrm rot="10800000">
            <a:off x="-208425" y="1869550"/>
            <a:ext cx="13165500" cy="3954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 txBox="1"/>
          <p:nvPr/>
        </p:nvSpPr>
        <p:spPr>
          <a:xfrm>
            <a:off x="1000125" y="2852737"/>
            <a:ext cx="48102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B172C"/>
                </a:solidFill>
                <a:latin typeface="Lato"/>
                <a:ea typeface="Lato"/>
                <a:cs typeface="Lato"/>
                <a:sym typeface="Lato"/>
              </a:rPr>
              <a:t>Aterosklerosis:</a:t>
            </a:r>
            <a:r>
              <a:rPr b="0" i="0" lang="en-US" sz="1650" u="none" cap="none" strike="noStrike">
                <a:solidFill>
                  <a:srgbClr val="1B172C"/>
                </a:solidFill>
                <a:latin typeface="Lato"/>
                <a:ea typeface="Lato"/>
                <a:cs typeface="Lato"/>
                <a:sym typeface="Lato"/>
              </a:rPr>
              <a:t> Penumpukan lemak (plak) di pembuluh darah.</a:t>
            </a:r>
            <a:endParaRPr>
              <a:solidFill>
                <a:srgbClr val="1B172C"/>
              </a:solidFill>
            </a:endParaRPr>
          </a:p>
        </p:txBody>
      </p:sp>
      <p:sp>
        <p:nvSpPr>
          <p:cNvPr id="179" name="Google Shape;179;p18"/>
          <p:cNvSpPr txBox="1"/>
          <p:nvPr/>
        </p:nvSpPr>
        <p:spPr>
          <a:xfrm>
            <a:off x="1000125" y="3719512"/>
            <a:ext cx="4810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B172C"/>
                </a:solidFill>
                <a:latin typeface="Lato"/>
                <a:ea typeface="Lato"/>
                <a:cs typeface="Lato"/>
                <a:sym typeface="Lato"/>
              </a:rPr>
              <a:t>Kebiasaan Merokok:</a:t>
            </a:r>
            <a:r>
              <a:rPr b="0" i="0" lang="en-US" sz="1650" u="none" cap="none" strike="noStrike">
                <a:solidFill>
                  <a:srgbClr val="1B172C"/>
                </a:solidFill>
                <a:latin typeface="Lato"/>
                <a:ea typeface="Lato"/>
                <a:cs typeface="Lato"/>
                <a:sym typeface="Lato"/>
              </a:rPr>
              <a:t> Merusak lapisan dinding arteri.</a:t>
            </a:r>
            <a:endParaRPr>
              <a:solidFill>
                <a:srgbClr val="1B172C"/>
              </a:solidFill>
            </a:endParaRPr>
          </a:p>
        </p:txBody>
      </p:sp>
      <p:sp>
        <p:nvSpPr>
          <p:cNvPr id="180" name="Google Shape;180;p18"/>
          <p:cNvSpPr txBox="1"/>
          <p:nvPr/>
        </p:nvSpPr>
        <p:spPr>
          <a:xfrm>
            <a:off x="1000125" y="4586287"/>
            <a:ext cx="4810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B172C"/>
                </a:solidFill>
                <a:latin typeface="Lato"/>
                <a:ea typeface="Lato"/>
                <a:cs typeface="Lato"/>
                <a:sym typeface="Lato"/>
              </a:rPr>
              <a:t>Diet Buruk:</a:t>
            </a:r>
            <a:r>
              <a:rPr b="0" i="0" lang="en-US" sz="1650" u="none" cap="none" strike="noStrike">
                <a:solidFill>
                  <a:srgbClr val="1B172C"/>
                </a:solidFill>
                <a:latin typeface="Lato"/>
                <a:ea typeface="Lato"/>
                <a:cs typeface="Lato"/>
                <a:sym typeface="Lato"/>
              </a:rPr>
              <a:t> Tinggi kolesterol dan lemak jenuh.</a:t>
            </a:r>
            <a:endParaRPr>
              <a:solidFill>
                <a:srgbClr val="1B172C"/>
              </a:solidFill>
            </a:endParaRPr>
          </a:p>
        </p:txBody>
      </p:sp>
      <p:sp>
        <p:nvSpPr>
          <p:cNvPr id="181" name="Google Shape;181;p18"/>
          <p:cNvSpPr txBox="1"/>
          <p:nvPr/>
        </p:nvSpPr>
        <p:spPr>
          <a:xfrm>
            <a:off x="6810375" y="3009900"/>
            <a:ext cx="4810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B172C"/>
                </a:solidFill>
                <a:latin typeface="Lato"/>
                <a:ea typeface="Lato"/>
                <a:cs typeface="Lato"/>
                <a:sym typeface="Lato"/>
              </a:rPr>
              <a:t>Kondisi Medis:</a:t>
            </a:r>
            <a:r>
              <a:rPr b="0" i="0" lang="en-US" sz="1650" u="none" cap="none" strike="noStrike">
                <a:solidFill>
                  <a:srgbClr val="1B172C"/>
                </a:solidFill>
                <a:latin typeface="Lato"/>
                <a:ea typeface="Lato"/>
                <a:cs typeface="Lato"/>
                <a:sym typeface="Lato"/>
              </a:rPr>
              <a:t> Hipertensi, Diabetes, dan Obesitas.</a:t>
            </a:r>
            <a:endParaRPr>
              <a:solidFill>
                <a:srgbClr val="1B172C"/>
              </a:solidFill>
            </a:endParaRPr>
          </a:p>
        </p:txBody>
      </p:sp>
      <p:sp>
        <p:nvSpPr>
          <p:cNvPr id="182" name="Google Shape;182;p18"/>
          <p:cNvSpPr txBox="1"/>
          <p:nvPr/>
        </p:nvSpPr>
        <p:spPr>
          <a:xfrm>
            <a:off x="6810375" y="3562350"/>
            <a:ext cx="48102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B172C"/>
                </a:solidFill>
                <a:latin typeface="Lato"/>
                <a:ea typeface="Lato"/>
                <a:cs typeface="Lato"/>
                <a:sym typeface="Lato"/>
              </a:rPr>
              <a:t>Kurang Aktivitas:</a:t>
            </a:r>
            <a:r>
              <a:rPr b="0" i="0" lang="en-US" sz="1650" u="none" cap="none" strike="noStrike">
                <a:solidFill>
                  <a:srgbClr val="1B172C"/>
                </a:solidFill>
                <a:latin typeface="Lato"/>
                <a:ea typeface="Lato"/>
                <a:cs typeface="Lato"/>
                <a:sym typeface="Lato"/>
              </a:rPr>
              <a:t> Gaya hidup sedenter (kurang gerak).</a:t>
            </a:r>
            <a:endParaRPr>
              <a:solidFill>
                <a:srgbClr val="1B172C"/>
              </a:solidFill>
            </a:endParaRPr>
          </a:p>
        </p:txBody>
      </p:sp>
      <p:sp>
        <p:nvSpPr>
          <p:cNvPr id="183" name="Google Shape;183;p18"/>
          <p:cNvSpPr txBox="1"/>
          <p:nvPr/>
        </p:nvSpPr>
        <p:spPr>
          <a:xfrm>
            <a:off x="6810375" y="4429125"/>
            <a:ext cx="4810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B172C"/>
                </a:solidFill>
                <a:latin typeface="Lato"/>
                <a:ea typeface="Lato"/>
                <a:cs typeface="Lato"/>
                <a:sym typeface="Lato"/>
              </a:rPr>
              <a:t>Stres Berlebih:</a:t>
            </a:r>
            <a:r>
              <a:rPr b="0" i="0" lang="en-US" sz="1650" u="none" cap="none" strike="noStrike">
                <a:solidFill>
                  <a:srgbClr val="1B172C"/>
                </a:solidFill>
                <a:latin typeface="Lato"/>
                <a:ea typeface="Lato"/>
                <a:cs typeface="Lato"/>
                <a:sym typeface="Lato"/>
              </a:rPr>
              <a:t> Memicu tekanan darah tidak stabil.</a:t>
            </a:r>
            <a:endParaRPr>
              <a:solidFill>
                <a:srgbClr val="1B172C"/>
              </a:solidFill>
            </a:endParaRPr>
          </a:p>
        </p:txBody>
      </p:sp>
      <p:pic>
        <p:nvPicPr>
          <p:cNvPr descr="image.png" id="184" name="Google Shape;18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90837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757612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6243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0" y="304800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81750" y="3600450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81750" y="4467225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4" name="Google Shape;19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47900"/>
            <a:ext cx="5405437" cy="1552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5062" y="2247900"/>
            <a:ext cx="5405437" cy="1552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038600"/>
            <a:ext cx="5405437" cy="1552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5062" y="4038600"/>
            <a:ext cx="5405437" cy="1552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7250" y="2609850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 txBox="1"/>
          <p:nvPr/>
        </p:nvSpPr>
        <p:spPr>
          <a:xfrm>
            <a:off x="1524000" y="2571750"/>
            <a:ext cx="437554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Penurunan Fungsi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1524000" y="3000375"/>
            <a:ext cx="416718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Organ tubuh tidak mendapatkan nutrisi, menyebabkan kelelahan kronis dan sesak napas.</a:t>
            </a:r>
            <a:endParaRPr/>
          </a:p>
        </p:txBody>
      </p:sp>
      <p:pic>
        <p:nvPicPr>
          <p:cNvPr descr="image.png" id="202" name="Google Shape;202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00812" y="2609850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7119937" y="2571750"/>
            <a:ext cx="442555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Serangan Akut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7119937" y="3000375"/>
            <a:ext cx="4214812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Risiko serangan jantung atau stroke mendadak yang dapat berakibat kelumpuhan atau kematian.</a:t>
            </a:r>
            <a:endParaRPr/>
          </a:p>
        </p:txBody>
      </p:sp>
      <p:pic>
        <p:nvPicPr>
          <p:cNvPr descr="image.png" id="205" name="Google Shape;205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7250" y="440055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9"/>
          <p:cNvSpPr txBox="1"/>
          <p:nvPr/>
        </p:nvSpPr>
        <p:spPr>
          <a:xfrm>
            <a:off x="1428750" y="4362450"/>
            <a:ext cx="447555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Keterbatasan Fisik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1428750" y="4791075"/>
            <a:ext cx="426243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Membatasi aktivitas sehari-hari dan menurunkan kemandirian individu dalam bekerja.</a:t>
            </a:r>
            <a:endParaRPr/>
          </a:p>
        </p:txBody>
      </p:sp>
      <p:pic>
        <p:nvPicPr>
          <p:cNvPr descr="image.png" id="208" name="Google Shape;208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00812" y="4400550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9"/>
          <p:cNvSpPr txBox="1"/>
          <p:nvPr/>
        </p:nvSpPr>
        <p:spPr>
          <a:xfrm>
            <a:off x="6977062" y="4362450"/>
            <a:ext cx="457557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Beban Ekonomi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6977062" y="4791075"/>
            <a:ext cx="435768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Memerlukan biaya perawatan medis dan obat-obatan yang berkelanjutan seumur hidup.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Dampak &amp; Bahaya Komplikasi</a:t>
            </a:r>
            <a:endParaRPr/>
          </a:p>
        </p:txBody>
      </p:sp>
      <p:sp>
        <p:nvSpPr>
          <p:cNvPr id="212" name="Google Shape;212;p19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9"/>
          <p:cNvSpPr/>
          <p:nvPr/>
        </p:nvSpPr>
        <p:spPr>
          <a:xfrm rot="10800000">
            <a:off x="-358650" y="6199815"/>
            <a:ext cx="12909300" cy="5154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9"/>
          <p:cNvSpPr/>
          <p:nvPr/>
        </p:nvSpPr>
        <p:spPr>
          <a:xfrm rot="10800000">
            <a:off x="-358651" y="5847595"/>
            <a:ext cx="12909300" cy="2310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9" name="Google Shape;21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0" name="Google Shape;220;p20"/>
          <p:cNvGraphicFramePr/>
          <p:nvPr/>
        </p:nvGraphicFramePr>
        <p:xfrm>
          <a:off x="571500" y="2362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{0219A2FD-0503-4DF9-B148-4863933273AF}</a:tableStyleId>
              </a:tblPr>
              <a:tblGrid>
                <a:gridCol w="4419600"/>
                <a:gridCol w="6629400"/>
              </a:tblGrid>
              <a:tr h="778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Mitos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1D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Fakta Sebenarnya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1D48"/>
                    </a:solidFill>
                  </a:tcPr>
                </a:tc>
              </a:tr>
              <a:tr h="778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"Penyakit jantung hanya untuk lansia."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Gaya hidup buruk membuat usia produktif (20-40 thn) kini sangat berisiko.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778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"Saya merasa sehat, jadi jantung saya aman."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Hipertensi dan kolesterol sering tidak bergejala sampai terjadi komplikasi serius.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778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"Masih muda tidak perlu jaga makan."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Kebiasaan sehat sejak dini adalah investasi agar pembuluh darah tidak tersumbat di masa depan.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221" name="Google Shape;221;p20"/>
          <p:cNvSpPr/>
          <p:nvPr/>
        </p:nvSpPr>
        <p:spPr>
          <a:xfrm>
            <a:off x="571500" y="3781425"/>
            <a:ext cx="44196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4991100" y="3781425"/>
            <a:ext cx="66294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571500" y="4629150"/>
            <a:ext cx="44196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0"/>
          <p:cNvSpPr/>
          <p:nvPr/>
        </p:nvSpPr>
        <p:spPr>
          <a:xfrm>
            <a:off x="4991100" y="4629150"/>
            <a:ext cx="66294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Mitos vs Fakta Jantung</a:t>
            </a:r>
            <a:endParaRPr/>
          </a:p>
        </p:txBody>
      </p:sp>
      <p:sp>
        <p:nvSpPr>
          <p:cNvPr id="226" name="Google Shape;226;p20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0"/>
          <p:cNvSpPr/>
          <p:nvPr/>
        </p:nvSpPr>
        <p:spPr>
          <a:xfrm rot="10800000">
            <a:off x="-358650" y="5670748"/>
            <a:ext cx="12909300" cy="12804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2" name="Google Shape;23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1"/>
          <p:cNvSpPr txBox="1"/>
          <p:nvPr/>
        </p:nvSpPr>
        <p:spPr>
          <a:xfrm>
            <a:off x="762000" y="1490662"/>
            <a:ext cx="50006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Ringkasan Materi</a:t>
            </a:r>
            <a:endParaRPr/>
          </a:p>
        </p:txBody>
      </p:sp>
      <p:sp>
        <p:nvSpPr>
          <p:cNvPr id="234" name="Google Shape;234;p21"/>
          <p:cNvSpPr/>
          <p:nvPr/>
        </p:nvSpPr>
        <p:spPr>
          <a:xfrm>
            <a:off x="571500" y="1490662"/>
            <a:ext cx="76200" cy="600075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571500" y="2471737"/>
            <a:ext cx="4953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Penyakit kardiovaskular adalah gangguan pada jantung dan pembuluh darah (PJK, Hipertensi, Stroke, dll).</a:t>
            </a:r>
            <a:endParaRPr/>
          </a:p>
        </p:txBody>
      </p:sp>
      <p:pic>
        <p:nvPicPr>
          <p:cNvPr descr="image.png" id="236" name="Google Shape;23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1"/>
          <p:cNvSpPr txBox="1"/>
          <p:nvPr/>
        </p:nvSpPr>
        <p:spPr>
          <a:xfrm>
            <a:off x="1000125" y="3709987"/>
            <a:ext cx="4524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Deteksi dini sangat krusial.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1000125" y="4262437"/>
            <a:ext cx="4524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80% kasus dapat dicegah.</a:t>
            </a:r>
            <a:endParaRPr/>
          </a:p>
        </p:txBody>
      </p:sp>
      <p:sp>
        <p:nvSpPr>
          <p:cNvPr id="239" name="Google Shape;239;p21"/>
          <p:cNvSpPr txBox="1"/>
          <p:nvPr/>
        </p:nvSpPr>
        <p:spPr>
          <a:xfrm>
            <a:off x="1000125" y="4814887"/>
            <a:ext cx="4524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Hidup sehat adalah kunci.</a:t>
            </a:r>
            <a:endParaRPr/>
          </a:p>
        </p:txBody>
      </p:sp>
      <p:pic>
        <p:nvPicPr>
          <p:cNvPr descr="image.png" id="240" name="Google Shape;24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7480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300537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852987"/>
            <a:ext cx="1428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1"/>
          <p:cNvSpPr/>
          <p:nvPr/>
        </p:nvSpPr>
        <p:spPr>
          <a:xfrm rot="10800000">
            <a:off x="-358675" y="6484200"/>
            <a:ext cx="6446400" cy="2310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8" name="Google Shape;24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2"/>
          <p:cNvSpPr txBox="1"/>
          <p:nvPr/>
        </p:nvSpPr>
        <p:spPr>
          <a:xfrm>
            <a:off x="1620440" y="1962150"/>
            <a:ext cx="89511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0">
                <a:solidFill>
                  <a:srgbClr val="E11D48"/>
                </a:solidFill>
                <a:latin typeface="Poppins"/>
                <a:ea typeface="Poppins"/>
                <a:cs typeface="Poppins"/>
                <a:sym typeface="Poppins"/>
              </a:rPr>
              <a:t>Terima Kasih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1833562" y="3581400"/>
            <a:ext cx="8524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Jangan biarkan jantungmu menebak-nebak.</a:t>
            </a:r>
            <a:endParaRPr/>
          </a:p>
        </p:txBody>
      </p:sp>
      <p:sp>
        <p:nvSpPr>
          <p:cNvPr id="251" name="Google Shape;251;p22"/>
          <p:cNvSpPr txBox="1"/>
          <p:nvPr/>
        </p:nvSpPr>
        <p:spPr>
          <a:xfrm>
            <a:off x="1833562" y="4686300"/>
            <a:ext cx="852487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Terima kasih atas perhatian Anda.</a:t>
            </a:r>
            <a:endParaRPr/>
          </a:p>
        </p:txBody>
      </p:sp>
      <p:sp>
        <p:nvSpPr>
          <p:cNvPr id="252" name="Google Shape;252;p22"/>
          <p:cNvSpPr/>
          <p:nvPr/>
        </p:nvSpPr>
        <p:spPr>
          <a:xfrm rot="-8489947">
            <a:off x="-3135956" y="4640007"/>
            <a:ext cx="8006404" cy="2697194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2"/>
          <p:cNvSpPr/>
          <p:nvPr/>
        </p:nvSpPr>
        <p:spPr>
          <a:xfrm rot="-8489947">
            <a:off x="-2083328" y="4721426"/>
            <a:ext cx="8006404" cy="209429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8" name="Google Shape;25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3"/>
          <p:cNvSpPr/>
          <p:nvPr/>
        </p:nvSpPr>
        <p:spPr>
          <a:xfrm>
            <a:off x="571500" y="2681287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3"/>
          <p:cNvSpPr/>
          <p:nvPr/>
        </p:nvSpPr>
        <p:spPr>
          <a:xfrm>
            <a:off x="571500" y="3452812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3"/>
          <p:cNvSpPr/>
          <p:nvPr/>
        </p:nvSpPr>
        <p:spPr>
          <a:xfrm>
            <a:off x="571500" y="34432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3"/>
          <p:cNvSpPr/>
          <p:nvPr/>
        </p:nvSpPr>
        <p:spPr>
          <a:xfrm>
            <a:off x="571500" y="34432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3"/>
          <p:cNvSpPr/>
          <p:nvPr/>
        </p:nvSpPr>
        <p:spPr>
          <a:xfrm>
            <a:off x="571500" y="42148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3"/>
          <p:cNvSpPr/>
          <p:nvPr/>
        </p:nvSpPr>
        <p:spPr>
          <a:xfrm>
            <a:off x="571500" y="42148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5" name="Google Shape;26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241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3"/>
          <p:cNvSpPr txBox="1"/>
          <p:nvPr/>
        </p:nvSpPr>
        <p:spPr>
          <a:xfrm>
            <a:off x="1666875" y="2831306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https://images.stockcake.com/public/8/8/8/888eecc5-ba0e-4def-bda6-21685cfc001f_medium/neon-heart-anatomy-stockcake.jpg</a:t>
            </a:r>
            <a:endParaRPr/>
          </a:p>
        </p:txBody>
      </p:sp>
      <p:sp>
        <p:nvSpPr>
          <p:cNvPr id="267" name="Google Shape;267;p23"/>
          <p:cNvSpPr txBox="1"/>
          <p:nvPr/>
        </p:nvSpPr>
        <p:spPr>
          <a:xfrm>
            <a:off x="1666875" y="3064668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stockcake.com</a:t>
            </a:r>
            <a:endParaRPr/>
          </a:p>
        </p:txBody>
      </p:sp>
      <p:pic>
        <p:nvPicPr>
          <p:cNvPr descr="image.png" id="268" name="Google Shape;26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5956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3"/>
          <p:cNvSpPr txBox="1"/>
          <p:nvPr/>
        </p:nvSpPr>
        <p:spPr>
          <a:xfrm>
            <a:off x="1666875" y="3602831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https://www.news-medical.net/image-handler/picture/2019/8/shutterstock_691843516.jpg</a:t>
            </a:r>
            <a:endParaRPr/>
          </a:p>
        </p:txBody>
      </p:sp>
      <p:sp>
        <p:nvSpPr>
          <p:cNvPr id="270" name="Google Shape;270;p23"/>
          <p:cNvSpPr txBox="1"/>
          <p:nvPr/>
        </p:nvSpPr>
        <p:spPr>
          <a:xfrm>
            <a:off x="1666875" y="3836193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www.news-medical.net</a:t>
            </a:r>
            <a:endParaRPr/>
          </a:p>
        </p:txBody>
      </p:sp>
      <p:pic>
        <p:nvPicPr>
          <p:cNvPr descr="image.png" id="271" name="Google Shape;271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4529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3"/>
          <p:cNvSpPr txBox="1"/>
          <p:nvPr/>
        </p:nvSpPr>
        <p:spPr>
          <a:xfrm>
            <a:off x="1666875" y="4367212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https://static.vecteezy.com/system/resources/previews/078/577/918/non_2x/hypertension-vs-healthy-artery-comparison-diagram-showing-blood-vessel-narrowing-and-high-blood-pressure-medical-illustration-vector.jpg</a:t>
            </a:r>
            <a:endParaRPr/>
          </a:p>
        </p:txBody>
      </p:sp>
      <p:sp>
        <p:nvSpPr>
          <p:cNvPr id="273" name="Google Shape;273;p23"/>
          <p:cNvSpPr txBox="1"/>
          <p:nvPr/>
        </p:nvSpPr>
        <p:spPr>
          <a:xfrm>
            <a:off x="1666875" y="4786312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www.vecteezy.com</a:t>
            </a:r>
            <a:endParaRPr/>
          </a:p>
        </p:txBody>
      </p:sp>
      <p:sp>
        <p:nvSpPr>
          <p:cNvPr id="274" name="Google Shape;274;p23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275" name="Google Shape;275;p23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